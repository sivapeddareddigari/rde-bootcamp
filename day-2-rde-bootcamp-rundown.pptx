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2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98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EF"/>
          </a:solidFill>
          <a:ln w="12700">
            <a:solidFill>
              <a:srgbClr val="F1F1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Users/ricky.c.wong/.copilot/skills/creating-accenture-presentations/assets/logos/Acc_Logo_Black_Purpl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2064"/>
            <a:ext cx="173736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4173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RDE bootcamp | workshop rundown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Day 2: the full-day RDE pod simulation hackathon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Turn the case into a qualified RDE opportunity, prove the highest-value slice, and pitch a 90-day Rapid Reinvention engagement.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41080" y="932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Today's rhythm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41080" y="1353312"/>
            <a:ext cx="2697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Frame and qualify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Prototype in three sprints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Pitch the investment case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8368" y="4663440"/>
            <a:ext cx="6355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4882896"/>
            <a:ext cx="5943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Day 1 introduces the RDE playbook and closes with the case briefing, so Day 2 starts immediately in execution mode.</a:t>
            </a:r>
            <a:endParaRPr lang="en-US" sz="1150" dirty="0"/>
          </a:p>
        </p:txBody>
      </p:sp>
      <p:pic>
        <p:nvPicPr>
          <p:cNvPr id="12" name="Image 1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5175504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How Day 2 starts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69494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Teams arrive ready to execute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435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Day 1 hands off everything teams need; Day 2 opens straight into Envision mode.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847088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2048256"/>
            <a:ext cx="3657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Day 1 close handoff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" y="2340864"/>
            <a:ext cx="493776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case brief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Sample data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Judging rubric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Team assignments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Day 2 challenge statement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Ask teams not to build overnight, but to arrive with clarifying questions and initial hypotheses.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99632" y="1847088"/>
            <a:ext cx="5394960" cy="402336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19088" y="2048256"/>
            <a:ext cx="36576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2A3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Day 2 opening message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19088" y="24688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You already have the case. Today starts as if Envision has begun: your job is to turn the case into a qualified RDE opportunity, prove the highest-value slice, and convince the sponsor this can become a 90-day Rapid Reinvention engagement.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Full-day rundown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69494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Morning: frame, qualify, and start to prove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435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09:00-12:30 | the first two blocks are time-boxed to 30 minutes - make fast, defensible choices.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10954512" cy="914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Time</a:t>
                      </a:r>
                      <a:endParaRPr lang="en-US" sz="10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Activity</a:t>
                      </a:r>
                      <a:endParaRPr lang="en-US" sz="10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RDE playbook simulation</a:t>
                      </a:r>
                      <a:endParaRPr lang="en-US" sz="10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Output</a:t>
                      </a:r>
                      <a:endParaRPr lang="en-US" sz="10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09:00-09:15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Day 2 launch, rules, scoring, team setup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Pod mobilization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Team roles, working agreement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09:15-09:45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Problem framing and focus selection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Deal qualification + Envision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Chosen use-case slice, problem statement, success criteria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09:45-10:15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Value hypothesis and MVP definition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Envision value hypothesis + Go / No-Go readiness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Value metric, ROI logic, MVP boundary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10:15-11:00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Target process and solution design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Process reinvention + solution concept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Future-state workflow, human-in-loop design, architecture sketch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11:00-11:15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Sponsor checkpoint 1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Envision decision checkpoint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Confirmed / narrowed scope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11:15-12:30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Prototype Sprint 1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Rapid Reinvention - PROVE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First working slice on sample data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Full-day rundown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69494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Afternoon: build, package, and pitch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435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12:30-17:30 | working lunch keeps part of the pod moving while the build continues.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10954512" cy="914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Time</a:t>
                      </a:r>
                      <a:endParaRPr lang="en-US" sz="10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Activity</a:t>
                      </a:r>
                      <a:endParaRPr lang="en-US" sz="10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RDE playbook simulation</a:t>
                      </a:r>
                      <a:endParaRPr lang="en-US" sz="10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Output</a:t>
                      </a:r>
                      <a:endParaRPr lang="en-US" sz="10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12:30-13:30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Working lunch / build continues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Prove continuation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Data issues, prototype backlog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13:30-14:30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Prototype Sprint 2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Rapid Reinvention - PROVE to BUILD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Demoable prototype, initial edge cases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14:30-14:45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Sponsor checkpoint 2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Stage gate: "Can this fly?"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Feedback, risks, build cuts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14:45-15:45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Prototype Sprint 3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Rapid Reinvention - BUILD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Improved workflow, controls, exception handling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15:45-16:10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Go-live and scale packaging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Rapid Reinvention - DELIVER + Scale-Up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Go-live assumptions, support model, Day-91 roadmap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16:10-16:25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Final pitch prep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Executive showcase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Final demo story and slides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16:25-17:20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Final presentations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Sponsor investment decision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Demo + value case + 90-day delivery story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7500C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17:20-17:30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Judging and awards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Go / No-Go closeout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Winner and key takeaways</a:t>
                      </a:r>
                      <a:endParaRPr lang="en-US" sz="9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Expected outputs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69494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each team finishes Day 2 with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435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 full RDE submission spans design, proof, value, and the path to scale - not just a deck.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901952"/>
            <a:ext cx="326440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" y="2103120"/>
            <a:ext cx="28346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Frame and qualify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5528" y="2468880"/>
            <a:ext cx="2834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Qualified RDE use case and problem statement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Success criteria and value hypothesis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Target process design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62272" y="1901952"/>
            <a:ext cx="3264408" cy="393192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2103120"/>
            <a:ext cx="28346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Prove and bound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2468880"/>
            <a:ext cx="2834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Working prototype on sample data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MVP boundary and key assumptions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Dependency and risk register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330184" y="1901952"/>
            <a:ext cx="326440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31352" y="2103120"/>
            <a:ext cx="28346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Ready to scale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531352" y="2468880"/>
            <a:ext cx="2834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Go-live readiness view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Day-91 scale-up roadmap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Executive pitch and demo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Judging criteria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694944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How sponsors score the investment decision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435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Working proof and genuine process reinvention carry the most weight - 45% combined.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20240"/>
          <a:ext cx="10954512" cy="914400"/>
        </p:xfrm>
        <a:graphic>
          <a:graphicData uri="http://schemas.openxmlformats.org/drawingml/2006/table">
            <a:tbl>
              <a:tblPr/>
              <a:tblGrid>
                <a:gridCol w="9125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Dimension</a:t>
                      </a:r>
                      <a:endParaRPr lang="en-US" sz="120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Weight</a:t>
                      </a:r>
                      <a:endParaRPr lang="en-US" sz="120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Problem framing and RDE-fit use-case selection</a:t>
                      </a:r>
                      <a:endParaRPr lang="en-US" sz="12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100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15%</a:t>
                      </a:r>
                      <a:endParaRPr lang="en-US" sz="130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Process reinvention, not just automation</a:t>
                      </a:r>
                      <a:endParaRPr lang="en-US" sz="12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100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20%</a:t>
                      </a:r>
                      <a:endParaRPr lang="en-US" sz="130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Working prototype evidence</a:t>
                      </a:r>
                      <a:endParaRPr lang="en-US" sz="12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100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25%</a:t>
                      </a:r>
                      <a:endParaRPr lang="en-US" sz="130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Value hypothesis and measurable business impact</a:t>
                      </a:r>
                      <a:endParaRPr lang="en-US" sz="12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100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15%</a:t>
                      </a:r>
                      <a:endParaRPr lang="en-US" sz="130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Go-live readiness: data, controls, security, adoption, support</a:t>
                      </a:r>
                      <a:endParaRPr lang="en-US" sz="12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100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15%</a:t>
                      </a:r>
                      <a:endParaRPr lang="en-US" sz="130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Scale-up story and executive clarity</a:t>
                      </a:r>
                      <a:endParaRPr lang="en-US" sz="125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100FF"/>
                          </a:solidFill>
                          <a:latin typeface="Graphik" pitchFamily="34" charset="0"/>
                          <a:ea typeface="Graphik" pitchFamily="34" charset="-122"/>
                          <a:cs typeface="Graphik" pitchFamily="34" charset="-120"/>
                        </a:rPr>
                        <a:t>10%</a:t>
                      </a:r>
                      <a:endParaRPr lang="en-US" sz="1300" dirty="0">
                        <a:latin typeface="Graphik" charset="0"/>
                        <a:ea typeface="Graphik" charset="0"/>
                        <a:cs typeface="Graphik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334DEC22DE8E4B8E045C5114BEB4C5" ma:contentTypeVersion="3" ma:contentTypeDescription="Create a new document." ma:contentTypeScope="" ma:versionID="23043c44134c5944eed79f2f9bb74919">
  <xsd:schema xmlns:xsd="http://www.w3.org/2001/XMLSchema" xmlns:xs="http://www.w3.org/2001/XMLSchema" xmlns:p="http://schemas.microsoft.com/office/2006/metadata/properties" xmlns:ns2="8f535a00-c90a-4449-95fc-f53262008cfb" targetNamespace="http://schemas.microsoft.com/office/2006/metadata/properties" ma:root="true" ma:fieldsID="8d246544cf6fcff1bdf350ce271efa58" ns2:_="">
    <xsd:import namespace="8f535a00-c90a-4449-95fc-f53262008c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35a00-c90a-4449-95fc-f53262008c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294168-B350-4A86-9146-9FEF75A022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22B44A-3AA9-40AE-8669-D11ED6B07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35a00-c90a-4449-95fc-f53262008c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C86D74-61C8-43E2-ACE0-89F75769E201}">
  <ds:schemaRefs>
    <ds:schemaRef ds:uri="http://schemas.openxmlformats.org/package/2006/metadata/core-properties"/>
    <ds:schemaRef ds:uri="8f535a00-c90a-4449-95fc-f53262008cfb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Widescreen</PresentationFormat>
  <Paragraphs>135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Graphik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RDE Hackathon Rundown</dc:title>
  <dc:subject>Day 2 RDE hackathon workshop rundown</dc:subject>
  <dc:creator>Accenture</dc:creator>
  <cp:lastModifiedBy>Reddy, Shiva</cp:lastModifiedBy>
  <cp:revision>1</cp:revision>
  <dcterms:created xsi:type="dcterms:W3CDTF">2026-06-09T20:37:16Z</dcterms:created>
  <dcterms:modified xsi:type="dcterms:W3CDTF">2026-06-17T10:45:57Z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0x010100E5334DEC22DE8E4B8E045C5114BEB4C5</vt:lpwstr>
  </property>
</Properties>
</file>